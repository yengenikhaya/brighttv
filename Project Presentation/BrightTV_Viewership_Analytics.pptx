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Monthly Active Subscribers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Subscribers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1164</c:v>
                </c:pt>
                <c:pt idx="1">
                  <c:v>1502</c:v>
                </c:pt>
                <c:pt idx="2">
                  <c:v>2545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New Subscriber Acquisition by Month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 New (1,164)</c:v>
                </c:pt>
                <c:pt idx="1">
                  <c:v>Feb New (1,216)</c:v>
                </c:pt>
                <c:pt idx="2">
                  <c:v>Mar New (2,003)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1164</c:v>
                </c:pt>
                <c:pt idx="1">
                  <c:v>1216</c:v>
                </c:pt>
                <c:pt idx="2">
                  <c:v>2003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Top 8 Channels by Sessions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Supersport Live Events</c:v>
                  </c:pt>
                  <c:pt idx="1">
                    <c:v>ICC Cricket WC 2011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Africa Magic</c:v>
                  </c:pt>
                  <c:pt idx="6">
                    <c:v>Cartoon Network</c:v>
                  </c:pt>
                  <c:pt idx="7">
                    <c:v>Boomerang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Sessions by Time Slot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Slots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00"/>
              </a:solidFill>
              <a:effectLst/>
            </c:spPr>
          </c:dPt>
          <c:dPt>
            <c:idx val="1"/>
            <c:bubble3D val="0"/>
            <c:spPr>
              <a:solidFill>
                <a:srgbClr val="1B9AAA"/>
              </a:solidFill>
              <a:effectLst/>
            </c:spPr>
          </c:dPt>
          <c:dPt>
            <c:idx val="2"/>
            <c:bubble3D val="0"/>
            <c:spPr>
              <a:solidFill>
                <a:srgbClr val="0F7083"/>
              </a:solidFill>
              <a:effectLst/>
            </c:spPr>
          </c:dPt>
          <c:dPt>
            <c:idx val="3"/>
            <c:bubble3D val="0"/>
            <c:spPr>
              <a:solidFill>
                <a:srgbClr val="0D1B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Afternoon (12–18h) 30.9%</c:v>
                </c:pt>
                <c:pt idx="1">
                  <c:v>Evening (18–22h) 25.4%</c:v>
                </c:pt>
                <c:pt idx="2">
                  <c:v>Morning (06–12h) 24.6%</c:v>
                </c:pt>
                <c:pt idx="3">
                  <c:v>Night (22–06h) 19.1%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3086</c:v>
                </c:pt>
                <c:pt idx="1">
                  <c:v>2545</c:v>
                </c:pt>
                <c:pt idx="2">
                  <c:v>2455</c:v>
                </c:pt>
                <c:pt idx="3">
                  <c:v>1914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Gender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89.8%</c:v>
                </c:pt>
                <c:pt idx="1">
                  <c:v>Female 10.2%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8761</c:v>
                </c:pt>
                <c:pt idx="1">
                  <c:v>977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Sessions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Adult
(25-44)</c:v>
                  </c:pt>
                  <c:pt idx="1">
                    <c:v>Young
Adult (18-24)</c:v>
                  </c:pt>
                  <c:pt idx="2">
                    <c:v>Middle
Aged (45-54)</c:v>
                  </c:pt>
                  <c:pt idx="3">
                    <c:v>Child
(0-12)</c:v>
                  </c:pt>
                  <c:pt idx="4">
                    <c:v>Teenager
(13-17)</c:v>
                  </c:pt>
                  <c:pt idx="5">
                    <c:v>Senior
(55+)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4957</c:v>
                </c:pt>
                <c:pt idx="1">
                  <c:v>3866</c:v>
                </c:pt>
                <c:pt idx="2">
                  <c:v>452</c:v>
                </c:pt>
                <c:pt idx="3">
                  <c:v>359</c:v>
                </c:pt>
                <c:pt idx="4">
                  <c:v>318</c:v>
                </c:pt>
                <c:pt idx="5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Race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</c:dPt>
          <c:dPt>
            <c:idx val="3"/>
            <c:bubble3D val="0"/>
            <c:spPr>
              <a:solidFill>
                <a:srgbClr val="0F7083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Black 48.5%</c:v>
                </c:pt>
                <c:pt idx="1">
                  <c:v>Coloured 18.3%</c:v>
                </c:pt>
                <c:pt idx="2">
                  <c:v>Indian/Asian 17.6%</c:v>
                </c:pt>
                <c:pt idx="3">
                  <c:v>White 14.5%</c:v>
                </c:pt>
                <c:pt idx="4">
                  <c:v>Other 1.1%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4331</c:v>
                </c:pt>
                <c:pt idx="1">
                  <c:v>1633</c:v>
                </c:pt>
                <c:pt idx="2">
                  <c:v>1575</c:v>
                </c:pt>
                <c:pt idx="3">
                  <c:v>1292</c:v>
                </c:pt>
                <c:pt idx="4">
                  <c:v>102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Sessions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North West</c:v>
                  </c:pt>
                  <c:pt idx="7">
                    <c:v>Free State</c:v>
                  </c:pt>
                  <c:pt idx="8">
                    <c:v>N.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  <c:pt idx="6">
                  <c:v>344</c:v>
                </c:pt>
                <c:pt idx="7">
                  <c:v>292</c:v>
                </c:pt>
                <c:pt idx="8">
                  <c:v>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 (Mon+Tue)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ICC Cricket WC 2011</c:v>
                  </c:pt>
                  <c:pt idx="1">
                    <c:v>Channel O</c:v>
                  </c:pt>
                  <c:pt idx="2">
                    <c:v>Trace TV</c:v>
                  </c:pt>
                  <c:pt idx="3">
                    <c:v>SuperSport Live</c:v>
                  </c:pt>
                  <c:pt idx="4">
                    <c:v>SuperSport Blitz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273</c:v>
                </c:pt>
                <c:pt idx="1">
                  <c:v>267</c:v>
                </c:pt>
                <c:pt idx="2">
                  <c:v>261</c:v>
                </c:pt>
                <c:pt idx="3">
                  <c:v>246</c:v>
                </c:pt>
                <c:pt idx="4">
                  <c:v>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 Sessions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0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Afternoon</c:v>
                  </c:pt>
                  <c:pt idx="1">
                    <c:v>Evening</c:v>
                  </c:pt>
                  <c:pt idx="2">
                    <c:v>Morning</c:v>
                  </c:pt>
                  <c:pt idx="3">
                    <c:v>Night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245</c:v>
                </c:pt>
                <c:pt idx="1">
                  <c:v>255</c:v>
                </c:pt>
                <c:pt idx="2">
                  <c:v>224</c:v>
                </c:pt>
                <c:pt idx="3">
                  <c:v>233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1B9AA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1371600" cy="1371600"/>
          </a:xfrm>
          <a:prstGeom prst="ellipse">
            <a:avLst/>
          </a:prstGeom>
          <a:solidFill>
            <a:srgbClr val="F2A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4114800"/>
            <a:ext cx="1645920" cy="1645920"/>
          </a:xfrm>
          <a:prstGeom prst="ellipse">
            <a:avLst/>
          </a:prstGeom>
          <a:solidFill>
            <a:srgbClr val="1B9AAA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BRIGHT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1B9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 Analytics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&amp; Customer Insights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41148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Presented to: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BrightTV CEO &amp; CVM Leadership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2016  |  Data Period: Jan – Mar 2016  |  SA Time (SAST)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4544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Analysed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4251960"/>
            <a:ext cx="27432" cy="640080"/>
          </a:xfrm>
          <a:prstGeom prst="rect">
            <a:avLst/>
          </a:prstGeom>
          <a:solidFill>
            <a:srgbClr val="1B9AA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4,386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51760" y="4544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4251960"/>
            <a:ext cx="27432" cy="640080"/>
          </a:xfrm>
          <a:prstGeom prst="rect">
            <a:avLst/>
          </a:prstGeom>
          <a:solidFill>
            <a:srgbClr val="1B9AAA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4544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4251960"/>
            <a:ext cx="27432" cy="640080"/>
          </a:xfrm>
          <a:prstGeom prst="rect">
            <a:avLst/>
          </a:prstGeom>
          <a:solidFill>
            <a:srgbClr val="1B9AAA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4544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182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9AAA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16002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64008" cy="16002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32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 Momentum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62456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 grew 119% from Jan to Mar 2016 — 1,164 to 2,545 unique monthly viewers — driven by major sporting events.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834640" cy="16002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64008" cy="16002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0332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Dominates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362456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&amp; ICC Cricket World Cup together account for over 31% of all sessions. Sports is the #1 consumption driver.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17336" y="960120"/>
            <a:ext cx="2834640" cy="16002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960120"/>
            <a:ext cx="64008" cy="1600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0332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Male-Skewed Audience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362456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 of identified viewers are male, presenting a key opportunity to develop targeted female-oriented content strategies.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743200"/>
            <a:ext cx="2834640" cy="16002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743200"/>
            <a:ext cx="64008" cy="1600200"/>
          </a:xfrm>
          <a:prstGeom prst="rect">
            <a:avLst/>
          </a:prstGeom>
          <a:solidFill>
            <a:srgbClr val="0F7083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163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Viewership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145536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accounts for 36% of all sessions, with Western Cape at 20%. Geographically concentrated — regional expansion opportunity exists.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743200"/>
            <a:ext cx="2834640" cy="16002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743200"/>
            <a:ext cx="64008" cy="1600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8163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Dip on Mondays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145536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lowest viewership day (9.6% of sessions). Targeted content promotions and exclusive previews can lift engagement.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17336" y="2743200"/>
            <a:ext cx="2834640" cy="160020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743200"/>
            <a:ext cx="64008" cy="1600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6254496" y="281635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Peak Timeslot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145536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 of viewing occurs in the afternoon (12–18h), with evening (18–22h) close behind at 25.4%. Prime acquisition windows.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&amp; USAGE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9AAA"/>
                </a:solidFill>
              </a:rPr>
              <a:t>Subscriber Growth  |  Slide 3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00584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+119%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Subscriber Growth (Jan→Mar)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0058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4,386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Total Unique Subscribers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743200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05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Sessions per Subscriber (avg)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74320" y="210312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5394960" y="2103120"/>
          <a:ext cx="3474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saw the biggest surge, driven by ICC Cricket World Cup 2011 rebroadcasts — sporting events are the most powerful acquisition lever.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&amp; USAGE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9AAA"/>
                </a:solidFill>
              </a:rPr>
              <a:t>Channel Performance  |  Slide 4 of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Category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1417320"/>
            <a:ext cx="2743200" cy="731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5"/>
          <p:cNvSpPr/>
          <p:nvPr/>
        </p:nvSpPr>
        <p:spPr>
          <a:xfrm>
            <a:off x="6126480" y="1417320"/>
            <a:ext cx="54864" cy="7315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9" name="Text 6"/>
          <p:cNvSpPr/>
          <p:nvPr/>
        </p:nvSpPr>
        <p:spPr>
          <a:xfrm>
            <a:off x="6236208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Sports (Top)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36208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SuperSport + ICC Cricket = 31% of all sessions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2743200" cy="731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2286000"/>
            <a:ext cx="54864" cy="7315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6236208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Music &amp; Culture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36208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Channel O + Trace TV = 20% — strong urban/youth appeal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26480" y="3154680"/>
            <a:ext cx="2743200" cy="731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6126480" y="315468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Family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36208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Cartoon Network + Boomerang = 15% — children/family segment active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4023360"/>
            <a:ext cx="2743200" cy="731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6480" y="4023360"/>
            <a:ext cx="54864" cy="731520"/>
          </a:xfrm>
          <a:prstGeom prst="rect">
            <a:avLst/>
          </a:prstGeom>
          <a:solidFill>
            <a:srgbClr val="0F7083"/>
          </a:solidFill>
          <a:ln/>
        </p:spPr>
      </p:sp>
      <p:sp>
        <p:nvSpPr>
          <p:cNvPr id="21" name="Text 18"/>
          <p:cNvSpPr/>
          <p:nvPr/>
        </p:nvSpPr>
        <p:spPr>
          <a:xfrm>
            <a:off x="6236208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News/Interest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36208" y="4297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CNN + Africa Magic capture middle-aged &amp; diverse audiences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is the undisputed leader. Diversification into family and music content is already working — these are growth opportunities.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&amp; USAGE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9AAA"/>
                </a:solidFill>
              </a:rPr>
              <a:t>Day &amp; Time Patterns  |  Slide 5 of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394960" y="914400"/>
          <a:ext cx="34747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429000"/>
            <a:ext cx="2788920" cy="1508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3493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↓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74320" y="3977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74320" y="43159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Lowest day — 9.6% of sessions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18688" y="3429000"/>
            <a:ext cx="2788920" cy="15087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8"/>
          <p:cNvSpPr/>
          <p:nvPr/>
        </p:nvSpPr>
        <p:spPr>
          <a:xfrm>
            <a:off x="3218688" y="3493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↑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218688" y="3977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Friday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18688" y="43159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Highest day — 16.8% of sessions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63056" y="3429000"/>
            <a:ext cx="2788920" cy="150876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6" name="Text 12"/>
          <p:cNvSpPr/>
          <p:nvPr/>
        </p:nvSpPr>
        <p:spPr>
          <a:xfrm>
            <a:off x="6163056" y="34930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◉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163056" y="3977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Afternoon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163056" y="43159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Peak slot — 12pm to 6pm (SAST)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74320" y="5010912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Monday underperformance may reflect work/school routine. Content scheduling and push notifications on Monday mornings could boost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&amp; USAGE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9AAA"/>
                </a:solidFill>
              </a:rPr>
              <a:t>Demographic Profile  |  Slide 6 of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914400"/>
          <a:ext cx="2743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2971800" y="91440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812280" y="914400"/>
          <a:ext cx="2148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3" descr=""/>
          <p:cNvGraphicFramePr/>
          <p:nvPr/>
        </p:nvGraphicFramePr>
        <p:xfrm>
          <a:off x="182880" y="3337560"/>
          <a:ext cx="87782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FACTORS INFLUENCE CONSUMPTION?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160020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411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014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014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Sporting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ICC Cricket World Cup drove the March viewership surge (+69% vs Feb). Live and premium sports events are the single biggest consumption trigger.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88920" cy="160020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10" name="Shape 8"/>
          <p:cNvSpPr/>
          <p:nvPr/>
        </p:nvSpPr>
        <p:spPr>
          <a:xfrm>
            <a:off x="3172968" y="960120"/>
            <a:ext cx="2788920" cy="4114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14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1014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41732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Fridays and Saturdays generate 33% more sessions than Mondays. Weekend availability and social viewing patterns significantly boost consumption.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788920" cy="160020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960120"/>
            <a:ext cx="278892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014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4536" y="1014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/ Viewer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141732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viewing (12–18h) leads at 30.9%. Programming line-ups aligned to peak slots drive higher engagement per subscriber.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743200"/>
            <a:ext cx="2788920" cy="160020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2743200"/>
            <a:ext cx="2788920" cy="411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" y="27980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Gender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20040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 male audience concentrated on sports and music. Content personalisation by gender and age group can unlock untapped female segments.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743200"/>
            <a:ext cx="2788920" cy="160020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25" name="Shape 23"/>
          <p:cNvSpPr/>
          <p:nvPr/>
        </p:nvSpPr>
        <p:spPr>
          <a:xfrm>
            <a:off x="3172968" y="2743200"/>
            <a:ext cx="2788920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7980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30168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64408" y="320040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(36%) and Western Cape (20%) dominate. Urban population density, internet infrastructure, and income levels influence subscription uptake.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2743200"/>
            <a:ext cx="2788920" cy="160020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30" name="Shape 28"/>
          <p:cNvSpPr/>
          <p:nvPr/>
        </p:nvSpPr>
        <p:spPr>
          <a:xfrm>
            <a:off x="6117336" y="2743200"/>
            <a:ext cx="2788920" cy="411480"/>
          </a:xfrm>
          <a:prstGeom prst="rect">
            <a:avLst/>
          </a:prstGeom>
          <a:solidFill>
            <a:srgbClr val="0F7083"/>
          </a:solidFill>
          <a:ln/>
        </p:spPr>
      </p:sp>
      <p:sp>
        <p:nvSpPr>
          <p:cNvPr id="31" name="Text 29"/>
          <p:cNvSpPr/>
          <p:nvPr/>
        </p:nvSpPr>
        <p:spPr>
          <a:xfrm>
            <a:off x="6190488" y="27980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74536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Diversity &amp; Availability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08776" y="3200400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Family/kids content (Cartoon Network, Boomerang) contributes 15% — showing that content breadth beyond sports is actively driving household sessions.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CONSUMPTION DAYS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9AAA"/>
                </a:solidFill>
              </a:rPr>
              <a:t>Understanding Monday &amp; Tuesday  |  Slide 8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Monday: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957 sessions (9.6% of total)  |  </a:t>
            </a:r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</a:rPr>
              <a:t>Tuesday: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1,322 sessions (13.2% of total)  | 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Combined gap vs Friday: -999 sessions (-37%)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viewers watch on low days (Mon + Tue):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965960"/>
          <a:ext cx="4846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3035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Viewer time slots on Mondays: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303520" y="1965960"/>
          <a:ext cx="3566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Unlike weekends, Monday sessions are more evenly spread across all time slots — suggesting flexible but lower-intent viewing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RECOMMENDATIONS FOR LOW DAYS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34747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014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SPORTS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" y="13624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Monday Sport Specials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70992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sports highlights, pre-match analysis, or throwback match replays. Given sports is the #1 driver, a 'Monday Kickoff' package draws habitual viewers.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8892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788920" cy="34747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14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MUSIC &amp; CULTURE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13624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Music Monday / Tuesday Charts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70992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music content slots (Channel O / Trace TV style) — top charts, music videos, artist spotlights. Strong among Young Adults who already watch these channels.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78892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60120"/>
            <a:ext cx="278892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014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FAMILY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0488" y="13624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Family &amp; Kids Programming Block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170992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evening family content (18–20h) — Boomerang, Cartoon Network-style blocks. Monday evenings are a family viewing window in SA households.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278892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34640"/>
            <a:ext cx="2788920" cy="34747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" y="28895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ENTERTAINMENT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" y="32369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Binge-Worthy Series / Movie Mondays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" y="358444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weekly series premieres or Movie Monday events. A consistent programming anchor creates appointment viewing habits on low-traffic days.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78892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834640"/>
            <a:ext cx="2788920" cy="347472"/>
          </a:xfrm>
          <a:prstGeom prst="rect">
            <a:avLst/>
          </a:prstGeom>
          <a:solidFill>
            <a:srgbClr val="0F7083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8895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CRM &amp; MARKETING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46120" y="32369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Push Notification Campaigns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58444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evening reminder campaigns about Monday content. Personalized by viewer type (sports fans vs music fans) using existing subscriber profile data.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17336" y="2834640"/>
            <a:ext cx="2788920" cy="17373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834640"/>
            <a:ext cx="2788920" cy="34747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6190488" y="28895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LOYALTY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0488" y="32369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Monday Loyalty Rewards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3584448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'Watch on Monday' rewards — double loyalty points, unlockable content, or exclusive early access for Monday viewers. Behavioural incentive for off-peak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INITIATIVES TO GROW BRIGHTTV'S USER BASE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4251960" cy="118872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" y="10058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932688"/>
            <a:ext cx="411480" cy="347472"/>
          </a:xfrm>
          <a:prstGeom prst="rect">
            <a:avLst/>
          </a:prstGeom>
          <a:solidFill>
            <a:srgbClr val="1B9AAA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9784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ACQUISITION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22960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Rights Partnerships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exclusive streaming rights for popular SA leagues (PSL, Springboks, Proteas). Sports events drove the biggest subscriber spikes — this is the highest-ROI growth lever.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4251960" cy="118872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36592" y="100584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932688"/>
            <a:ext cx="411480" cy="347472"/>
          </a:xfrm>
          <a:prstGeom prst="rect">
            <a:avLst/>
          </a:prstGeom>
          <a:solidFill>
            <a:srgbClr val="F2A900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9784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ACQUISITION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257800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Audience Strategy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280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dedicated female-oriented content: reality TV, lifestyle, drama series. Only 10.2% of identified viewers are female — a massive untapped segment representing potential 9x growth.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258568"/>
            <a:ext cx="4251960" cy="118872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1752" y="23317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9080" y="2258568"/>
            <a:ext cx="411480" cy="347472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2304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ACQUISITION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22960" y="2313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606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KZN, Limpopo, and Mpumalanga are underserved relative to population size. Partner with mobile operators in these provinces for bundled data + BrightTV subscription packages.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258568"/>
            <a:ext cx="4251960" cy="118872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36592" y="233172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2258568"/>
            <a:ext cx="411480" cy="347472"/>
          </a:xfrm>
          <a:prstGeom prst="rect">
            <a:avLst/>
          </a:prstGeom>
          <a:solidFill>
            <a:srgbClr val="9B59B6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2304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RETENTION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257800" y="2313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606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recommendation algorithms based on viewing history, time of day, and demographics. Personalised 'Watch Next' recommendations reduce churn and increase sessions per subscriber.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584448"/>
            <a:ext cx="4251960" cy="118872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33" name="Shape 31"/>
          <p:cNvSpPr/>
          <p:nvPr/>
        </p:nvSpPr>
        <p:spPr>
          <a:xfrm>
            <a:off x="301752" y="365760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069080" y="3584448"/>
            <a:ext cx="411480" cy="347472"/>
          </a:xfrm>
          <a:prstGeom prst="rect">
            <a:avLst/>
          </a:prstGeom>
          <a:solidFill>
            <a:srgbClr val="2ECC71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977640" y="36301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RETENTION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22960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Loyalty Programme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tiered loyalty rewards (Bronze → Gold → Platinum) based on monthly viewing activity. Incentivise habitual viewing, referrals, and longer subscription tenures.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584448"/>
            <a:ext cx="4251960" cy="1188720"/>
          </a:xfrm>
          <a:prstGeom prst="rect">
            <a:avLst/>
          </a:prstGeom>
          <a:solidFill>
            <a:srgbClr val="1A2E3F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6592" y="3657600"/>
            <a:ext cx="457200" cy="457200"/>
          </a:xfrm>
          <a:prstGeom prst="ellipse">
            <a:avLst/>
          </a:prstGeom>
          <a:solidFill>
            <a:srgbClr val="0F7083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03920" y="3584448"/>
            <a:ext cx="411480" cy="347472"/>
          </a:xfrm>
          <a:prstGeom prst="rect">
            <a:avLst/>
          </a:prstGeom>
          <a:solidFill>
            <a:srgbClr val="0F7083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36301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MONETISATION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257800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Plan Bundling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family and household subscription tiers. Kids content (15% of sessions from Cartoon Network/Boomerang) suggests household co-viewing — bundle pricing unlocks this segment.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274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9AAA"/>
                </a:solidFill>
              </a:rPr>
              <a:t>Prioritised Action Plan  |  Slide 11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88920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— 0–3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Quick Wins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554480"/>
            <a:ext cx="278892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2763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Monday &amp; Tuesday content campaigns (highlights, music blocks)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0487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push notification / CRM messaging for low-day re-engagement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18211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viewer segmentation (sports vs. music vs. family profiles)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88620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95935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female audience content pilot (1–2 new channels or series)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914400"/>
            <a:ext cx="2788920" cy="64008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960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3–6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72968" y="1234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Growth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1554480"/>
            <a:ext cx="278892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162763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sports rights partnerships (PSL, rugby, cricket)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233172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40487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Family Plan bundled subscription tier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64408" y="310896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3264408" y="318211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personalisation / recommendation engine (MVP)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388620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395935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 data bundle partnerships in KZN, Limpopo, Mpumalanga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914400"/>
            <a:ext cx="2788920" cy="640080"/>
          </a:xfrm>
          <a:prstGeom prst="rect">
            <a:avLst/>
          </a:prstGeom>
          <a:solidFill>
            <a:srgbClr val="0F7083"/>
          </a:solidFill>
          <a:ln/>
        </p:spPr>
      </p:sp>
      <p:sp>
        <p:nvSpPr>
          <p:cNvPr id="28" name="Text 26"/>
          <p:cNvSpPr/>
          <p:nvPr/>
        </p:nvSpPr>
        <p:spPr>
          <a:xfrm>
            <a:off x="6117336" y="960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— 6–12 Months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17336" y="1234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Scale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1554480"/>
            <a:ext cx="2788920" cy="3291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162763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loyalty programme launch with tiered rewards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08776" y="233172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240487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 beyond Gauteng &amp; Western Cape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8776" y="310896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6208776" y="318211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content catalogue expansion (reality, drama, lifestyle)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08776" y="3886200"/>
            <a:ext cx="26334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6208776" y="3959352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analytics: churn prediction, LTV modelling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Success Metrics: Monthly Active Subscribers  |  Sessions per Subscriber  |  Female Audience Share  |  Day-of-Week Gini Coefficient (session evenness)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B9AA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F2A9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BRIGHTTV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is the #1 growth engine — invest in rights and exclusive events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414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119% subscriber growth in Q1 proves the model works — scale acquisition 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91693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Monday/Tuesday dip is addressable with targeted content &amp; CRM campaigns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39242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 male audience = significant female segment opportunity waiting to be unlocked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86791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&amp; W Cape saturating — geographic diversification is the next frontier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480560"/>
            <a:ext cx="8412480" cy="18288"/>
          </a:xfrm>
          <a:prstGeom prst="rect">
            <a:avLst/>
          </a:prstGeom>
          <a:solidFill>
            <a:srgbClr val="1B9AAA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  |  CVM Analytics Team  |  BrightTV 2016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CVM Analytics Team</dc:creator>
  <cp:lastModifiedBy>CVM Analytics Team</cp:lastModifiedBy>
  <cp:revision>1</cp:revision>
  <dcterms:created xsi:type="dcterms:W3CDTF">2026-04-19T20:51:00Z</dcterms:created>
  <dcterms:modified xsi:type="dcterms:W3CDTF">2026-04-19T20:51:00Z</dcterms:modified>
</cp:coreProperties>
</file>